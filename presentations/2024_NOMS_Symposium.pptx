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6" r:id="rId3"/>
    <p:sldId id="261" r:id="rId4"/>
    <p:sldId id="263" r:id="rId5"/>
    <p:sldId id="270" r:id="rId6"/>
    <p:sldId id="271" r:id="rId7"/>
    <p:sldId id="273" r:id="rId8"/>
    <p:sldId id="274" r:id="rId9"/>
    <p:sldId id="277" r:id="rId10"/>
    <p:sldId id="278" r:id="rId11"/>
    <p:sldId id="276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373" autoAdjust="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13F4D-AC8E-4128-B96F-0EBB3D36BD22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16AA6-8635-4F46-83DB-AAB676103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9CBE8-B1DD-497A-928B-23C8DE02F2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49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8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0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8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82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76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1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42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04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29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16AA6-8635-4F46-83DB-AAB676103C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9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815432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entral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11662075" cy="468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C5FC7-708D-4EF6-A855-401DEBC42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A6DDF61-F6DE-4361-AD5B-BABAFEB1D2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106753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Apertura - Titolo presentazi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763" y="1812897"/>
            <a:ext cx="10951054" cy="836579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/>
              <a:t>Title of the PhD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2821" y="3303150"/>
            <a:ext cx="5040312" cy="47372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Name Surname – xx Cycle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2482F7E-5382-2031-98B7-2CBB3DCE8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11"/>
          <a:stretch/>
        </p:blipFill>
        <p:spPr>
          <a:xfrm>
            <a:off x="9732391" y="5410098"/>
            <a:ext cx="1956021" cy="955288"/>
          </a:xfrm>
          <a:prstGeom prst="rect">
            <a:avLst/>
          </a:prstGeom>
        </p:spPr>
      </p:pic>
      <p:sp>
        <p:nvSpPr>
          <p:cNvPr id="3" name="Segnaposto testo 9">
            <a:extLst>
              <a:ext uri="{FF2B5EF4-FFF2-40B4-BE49-F238E27FC236}">
                <a16:creationId xmlns:a16="http://schemas.microsoft.com/office/drawing/2014/main" id="{11AB17B5-F5FC-5828-9B89-0801822B3D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763" y="4408016"/>
            <a:ext cx="5040312" cy="47372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/>
              <a:t>Supervisor: Name Surname</a:t>
            </a:r>
          </a:p>
        </p:txBody>
      </p:sp>
    </p:spTree>
    <p:extLst>
      <p:ext uri="{BB962C8B-B14F-4D97-AF65-F5344CB8AC3E}">
        <p14:creationId xmlns:p14="http://schemas.microsoft.com/office/powerpoint/2010/main" val="224871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B7020CC-1F43-4307-885B-9C5B8595FB35}"/>
              </a:ext>
            </a:extLst>
          </p:cNvPr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1525B60-4CE1-4B14-BFEA-0C3F4F11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D3A30F-644A-447F-AE26-65EEFAD4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400" y="1533167"/>
            <a:ext cx="11664950" cy="46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B17C92E-8ADD-4880-9C12-BC8CB27C40E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6400800"/>
            <a:ext cx="81865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9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4" r:id="rId2"/>
    <p:sldLayoutId id="2147483680" r:id="rId3"/>
  </p:sldLayoutIdLst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3600" b="1" kern="1200">
          <a:solidFill>
            <a:schemeClr val="tx2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2F090-CDA4-9687-1DF1-B5EEFF51C4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1763" y="2694269"/>
            <a:ext cx="10951054" cy="836579"/>
          </a:xfrm>
        </p:spPr>
        <p:txBody>
          <a:bodyPr/>
          <a:lstStyle/>
          <a:p>
            <a:r>
              <a:rPr lang="en-US" sz="4400" dirty="0"/>
              <a:t>Security Automation in next-generation Networks and Cloud environments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7AE0-5A82-5696-D854-B499320637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59437" y="3732572"/>
            <a:ext cx="6473126" cy="473720"/>
          </a:xfrm>
        </p:spPr>
        <p:txBody>
          <a:bodyPr/>
          <a:lstStyle/>
          <a:p>
            <a:r>
              <a:rPr lang="en-US" u="sng" dirty="0"/>
              <a:t>F. Pizzato</a:t>
            </a:r>
            <a:r>
              <a:rPr lang="en-US" dirty="0"/>
              <a:t>, D. Bringhenti, R. Sisto, F. Valenza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15769-A85D-7EA1-562C-30E92BA0F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5007" y="4421011"/>
            <a:ext cx="2681986" cy="473720"/>
          </a:xfrm>
        </p:spPr>
        <p:txBody>
          <a:bodyPr/>
          <a:lstStyle/>
          <a:p>
            <a:r>
              <a:rPr lang="en-US" sz="2000" dirty="0"/>
              <a:t>NOMS</a:t>
            </a:r>
            <a:r>
              <a:rPr lang="en-US" dirty="0"/>
              <a:t>, 9</a:t>
            </a:r>
            <a:r>
              <a:rPr lang="en-US" baseline="30000" dirty="0"/>
              <a:t>th</a:t>
            </a:r>
            <a:r>
              <a:rPr lang="en-US" dirty="0"/>
              <a:t> May 2024</a:t>
            </a:r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ADC09A54-7E56-FAE1-2E5D-7CECCE120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249" y="5393802"/>
            <a:ext cx="2620744" cy="12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8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B7DF1-82A3-C107-AF19-A0D62A856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962" y="1704490"/>
            <a:ext cx="11662075" cy="2019851"/>
          </a:xfrm>
        </p:spPr>
        <p:txBody>
          <a:bodyPr/>
          <a:lstStyle/>
          <a:p>
            <a:r>
              <a:rPr lang="en-US" sz="3200" dirty="0"/>
              <a:t>“</a:t>
            </a:r>
            <a:r>
              <a:rPr lang="en-US" sz="3200" i="1" dirty="0"/>
              <a:t>Cloud computing is a model for enabling ubiquitous, convenient, on-demand network access to a shared pool of configurable computing resources </a:t>
            </a:r>
            <a:r>
              <a:rPr lang="en-US" sz="3200" i="1" u="sng" dirty="0"/>
              <a:t>that can be rapidly provisioned and released with minimal management effort or service provider interaction</a:t>
            </a:r>
            <a:r>
              <a:rPr lang="en-US" sz="3200" dirty="0"/>
              <a:t>.”</a:t>
            </a:r>
            <a:endParaRPr lang="en-US" sz="3200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3200" dirty="0"/>
          </a:p>
          <a:p>
            <a:endParaRPr lang="en-US" sz="32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5E99375-5BA3-DCDD-9C60-3F8732F6D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/>
              <a:t>1/11</a:t>
            </a:r>
            <a:endParaRPr 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A53A9A-45C7-8C18-9A0A-65805B740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150" y="5112179"/>
            <a:ext cx="5251917" cy="125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914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8441-D039-A363-996A-EA6B6441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en-US" dirty="0"/>
              <a:t>Cloud Computing 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B7DF1-82A3-C107-AF19-A0D62A856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961" y="1765092"/>
            <a:ext cx="7061814" cy="100125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Misconfiguration</a:t>
            </a:r>
            <a:r>
              <a:rPr lang="en-US" dirty="0"/>
              <a:t> of cloud services and resources is the second most common factor involved in attacks (42.6%)</a:t>
            </a:r>
            <a:r>
              <a:rPr lang="en-US" baseline="30000" dirty="0"/>
              <a:t>[1]</a:t>
            </a:r>
            <a:r>
              <a:rPr lang="en-US" dirty="0"/>
              <a:t> 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990BF-4D1F-979B-6E3C-3E698D97624D}"/>
              </a:ext>
            </a:extLst>
          </p:cNvPr>
          <p:cNvSpPr txBox="1"/>
          <p:nvPr/>
        </p:nvSpPr>
        <p:spPr>
          <a:xfrm>
            <a:off x="420761" y="5746798"/>
            <a:ext cx="1135047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[1] SANS, “</a:t>
            </a:r>
            <a:r>
              <a:rPr lang="en-US" sz="1400" i="1" dirty="0"/>
              <a:t>Cloud Security Survey</a:t>
            </a:r>
            <a:r>
              <a:rPr lang="en-US" sz="1400" dirty="0"/>
              <a:t>”, 2022, Available: https://www.sans.org/white-papers/sans-2022-cloud-security-survey</a:t>
            </a:r>
          </a:p>
          <a:p>
            <a:r>
              <a:rPr lang="en-US" sz="1400" dirty="0"/>
              <a:t>[2] Fortinet, “</a:t>
            </a:r>
            <a:r>
              <a:rPr lang="en-US" sz="1400" i="1" dirty="0"/>
              <a:t>Cloud Security Report</a:t>
            </a:r>
            <a:r>
              <a:rPr lang="en-US" sz="1400" dirty="0"/>
              <a:t>”, 2023, Available: https://global.fortinet.com/emea-lp-en-2023cloudsecurityreport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5E99375-5BA3-DCDD-9C60-3F8732F6D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2/11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FB015-9511-BE61-78A8-B124EF5D6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415" y="1555516"/>
            <a:ext cx="4727624" cy="3301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436A9-BB5F-AA59-F3A1-013D647FFA1C}"/>
              </a:ext>
            </a:extLst>
          </p:cNvPr>
          <p:cNvSpPr txBox="1"/>
          <p:nvPr/>
        </p:nvSpPr>
        <p:spPr>
          <a:xfrm>
            <a:off x="264961" y="3656409"/>
            <a:ext cx="7061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For 59% of interviewed professionals, misconfiguration is</a:t>
            </a:r>
            <a:r>
              <a:rPr lang="en-US" sz="2400" b="1" dirty="0"/>
              <a:t> No.1 threat </a:t>
            </a:r>
            <a:r>
              <a:rPr lang="en-US" sz="2400" dirty="0"/>
              <a:t>requiring </a:t>
            </a:r>
            <a:r>
              <a:rPr lang="en-US" sz="2400" b="1" dirty="0"/>
              <a:t>larger portion of security experts’ effort</a:t>
            </a:r>
            <a:r>
              <a:rPr lang="en-US" sz="2400" dirty="0"/>
              <a:t> </a:t>
            </a:r>
            <a:r>
              <a:rPr lang="en-US" sz="2400" baseline="30000" dirty="0"/>
              <a:t>[2]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9572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E61A-4910-66BC-CE6B-086049F1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it-IT" dirty="0" err="1"/>
              <a:t>Ph.D</a:t>
            </a:r>
            <a:r>
              <a:rPr lang="it-IT" dirty="0"/>
              <a:t>. </a:t>
            </a:r>
            <a:r>
              <a:rPr lang="it-IT" dirty="0" err="1"/>
              <a:t>research</a:t>
            </a:r>
            <a:r>
              <a:rPr lang="it-IT" dirty="0"/>
              <a:t> goal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7B1FC-0735-6645-236D-7D3DB9AC97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7999"/>
            <a:ext cx="11662075" cy="4536263"/>
          </a:xfrm>
        </p:spPr>
        <p:txBody>
          <a:bodyPr/>
          <a:lstStyle/>
          <a:p>
            <a:r>
              <a:rPr lang="en-US" dirty="0"/>
              <a:t>Advance the state of the art of </a:t>
            </a:r>
            <a:r>
              <a:rPr lang="en-US" u="sng" dirty="0"/>
              <a:t>security automation and optimization in next-generation networks and cloud-based systems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key features should be: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US" sz="2400" i="1" dirty="0"/>
              <a:t>Support to </a:t>
            </a:r>
            <a:r>
              <a:rPr lang="en-US" sz="2400" b="1" i="1" dirty="0"/>
              <a:t>high-level declarative intents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Full process </a:t>
            </a:r>
            <a:r>
              <a:rPr lang="en-US" sz="2400" b="1" i="1" dirty="0"/>
              <a:t>automation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US" sz="2400" b="1" i="1" dirty="0"/>
              <a:t>Optimization</a:t>
            </a:r>
            <a:r>
              <a:rPr lang="en-US" sz="2400" i="1" dirty="0"/>
              <a:t> to reduce resource utilization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US" sz="2400" b="1" i="1" dirty="0"/>
              <a:t>Formally verified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US" sz="2400" b="1" i="1" dirty="0"/>
              <a:t>Dynamic</a:t>
            </a:r>
            <a:r>
              <a:rPr lang="en-US" sz="2400" i="1" dirty="0"/>
              <a:t> (reactive defense approach)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EDD74D9-39B6-EC60-574B-B256E2345D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3/11</a:t>
            </a:r>
          </a:p>
        </p:txBody>
      </p:sp>
      <p:pic>
        <p:nvPicPr>
          <p:cNvPr id="5" name="Graphic 4" descr="Bullseye with solid fill">
            <a:extLst>
              <a:ext uri="{FF2B5EF4-FFF2-40B4-BE49-F238E27FC236}">
                <a16:creationId xmlns:a16="http://schemas.microsoft.com/office/drawing/2014/main" id="{14935605-8491-CA57-992C-BC0AD6708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8653" y="2859799"/>
            <a:ext cx="2646947" cy="264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3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D365-003A-A746-7004-A9C92B9E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en-US" dirty="0"/>
              <a:t>Current research directions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DD68B-5CBC-B569-8CD8-B3CF5EE3D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it-IT" dirty="0"/>
              <a:t>Development of </a:t>
            </a:r>
            <a:r>
              <a:rPr lang="it-IT" dirty="0" err="1"/>
              <a:t>novel</a:t>
            </a:r>
            <a:r>
              <a:rPr lang="it-IT" dirty="0"/>
              <a:t> </a:t>
            </a:r>
            <a:r>
              <a:rPr lang="it-IT" dirty="0" err="1"/>
              <a:t>automated</a:t>
            </a:r>
            <a:r>
              <a:rPr lang="it-IT" dirty="0"/>
              <a:t> and </a:t>
            </a:r>
            <a:r>
              <a:rPr lang="it-IT" dirty="0" err="1"/>
              <a:t>intent-based</a:t>
            </a:r>
            <a:r>
              <a:rPr lang="it-IT" dirty="0"/>
              <a:t> </a:t>
            </a:r>
            <a:r>
              <a:rPr lang="it-IT" dirty="0" err="1"/>
              <a:t>approaches</a:t>
            </a:r>
            <a:r>
              <a:rPr lang="it-IT" dirty="0"/>
              <a:t> for security enforcement in cloud </a:t>
            </a:r>
            <a:r>
              <a:rPr lang="it-IT" dirty="0" err="1"/>
              <a:t>environments</a:t>
            </a:r>
            <a:r>
              <a:rPr lang="it-IT" dirty="0"/>
              <a:t>, </a:t>
            </a:r>
            <a:r>
              <a:rPr lang="it-IT" dirty="0" err="1"/>
              <a:t>ensuring</a:t>
            </a:r>
            <a:r>
              <a:rPr lang="it-IT" dirty="0"/>
              <a:t> </a:t>
            </a:r>
            <a:r>
              <a:rPr lang="it-IT" dirty="0" err="1"/>
              <a:t>formal</a:t>
            </a:r>
            <a:r>
              <a:rPr lang="it-IT" dirty="0"/>
              <a:t> </a:t>
            </a:r>
            <a:r>
              <a:rPr lang="it-IT" dirty="0" err="1"/>
              <a:t>correctness</a:t>
            </a:r>
            <a:r>
              <a:rPr lang="it-IT" dirty="0"/>
              <a:t> and </a:t>
            </a:r>
            <a:r>
              <a:rPr lang="it-IT" dirty="0" err="1"/>
              <a:t>optimization</a:t>
            </a:r>
            <a:r>
              <a:rPr lang="it-IT" dirty="0"/>
              <a:t>.</a:t>
            </a:r>
          </a:p>
          <a:p>
            <a:pPr marL="1143000" lvl="1" indent="-457200">
              <a:buFont typeface="Wingdings" panose="05000000000000000000" pitchFamily="2" charset="2"/>
              <a:buChar char="§"/>
            </a:pPr>
            <a:r>
              <a:rPr lang="it-IT" sz="2400" dirty="0"/>
              <a:t>Study the state-of-the-art of cloud security </a:t>
            </a:r>
            <a:r>
              <a:rPr lang="it-IT" sz="2400" dirty="0" err="1"/>
              <a:t>automation</a:t>
            </a:r>
            <a:r>
              <a:rPr lang="it-IT" sz="2400" dirty="0"/>
              <a:t> </a:t>
            </a:r>
          </a:p>
          <a:p>
            <a:pPr marL="1143000" lvl="1" indent="-457200">
              <a:buFont typeface="Wingdings" panose="05000000000000000000" pitchFamily="2" charset="2"/>
              <a:buChar char="§"/>
            </a:pPr>
            <a:r>
              <a:rPr lang="it-IT" sz="2400" dirty="0" err="1"/>
              <a:t>Intent-based</a:t>
            </a:r>
            <a:r>
              <a:rPr lang="it-IT" sz="2400" dirty="0"/>
              <a:t> security orchestrator for network </a:t>
            </a:r>
            <a:r>
              <a:rPr lang="it-IT" sz="2400" dirty="0" err="1"/>
              <a:t>isolation</a:t>
            </a:r>
            <a:r>
              <a:rPr lang="it-IT" sz="2400" dirty="0"/>
              <a:t> in </a:t>
            </a:r>
            <a:r>
              <a:rPr lang="it-IT" sz="2400" dirty="0" err="1"/>
              <a:t>Kubernetes</a:t>
            </a:r>
            <a:endParaRPr lang="it-IT" sz="2400" dirty="0"/>
          </a:p>
          <a:p>
            <a:pPr marL="457200" indent="-457200">
              <a:buAutoNum type="arabicParenR"/>
            </a:pPr>
            <a:r>
              <a:rPr lang="en-US" dirty="0"/>
              <a:t>Researching new solutions for the design of security reaction mechanisms for modern networks in response to network attacks</a:t>
            </a:r>
          </a:p>
          <a:p>
            <a:pPr marL="1143000" lvl="1" indent="-457200">
              <a:buFont typeface="Wingdings" panose="05000000000000000000" pitchFamily="2" charset="2"/>
              <a:buChar char="§"/>
            </a:pPr>
            <a:r>
              <a:rPr lang="en-US" sz="2400" dirty="0"/>
              <a:t>Optimized approach for automatic reconfiguration of firewalls to satisfy a new set of network security requirements</a:t>
            </a:r>
          </a:p>
          <a:p>
            <a:pPr marL="1143000" lvl="1" indent="-457200">
              <a:buFont typeface="Wingdings" panose="05000000000000000000" pitchFamily="2" charset="2"/>
              <a:buChar char="§"/>
            </a:pPr>
            <a:r>
              <a:rPr lang="en-US" sz="2400" dirty="0"/>
              <a:t>Integration of the automated tools with IDS systems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3033B58-6F75-7492-CF74-3631E24D34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71024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2F84-87D6-6102-A3D2-F30538B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it-IT" dirty="0"/>
              <a:t>Cloud Security Automation – state of the art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4B50A-D627-3FF3-B77D-0F6E108048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t-IT" dirty="0"/>
              <a:t>In literature, </a:t>
            </a:r>
            <a:r>
              <a:rPr lang="it-IT" b="1" dirty="0"/>
              <a:t>no </a:t>
            </a:r>
            <a:r>
              <a:rPr lang="it-IT" b="1" dirty="0" err="1"/>
              <a:t>solution</a:t>
            </a:r>
            <a:r>
              <a:rPr lang="it-IT" b="1" dirty="0"/>
              <a:t> </a:t>
            </a:r>
            <a:r>
              <a:rPr lang="it-IT" b="1" dirty="0" err="1"/>
              <a:t>exists</a:t>
            </a:r>
            <a:r>
              <a:rPr lang="it-IT" b="1" dirty="0"/>
              <a:t> to </a:t>
            </a:r>
            <a:r>
              <a:rPr lang="it-IT" b="1" dirty="0" err="1"/>
              <a:t>automatically</a:t>
            </a:r>
            <a:r>
              <a:rPr lang="it-IT" b="1" dirty="0"/>
              <a:t> generate the </a:t>
            </a:r>
            <a:r>
              <a:rPr lang="it-IT" b="1" dirty="0" err="1"/>
              <a:t>configuration</a:t>
            </a:r>
            <a:r>
              <a:rPr lang="it-IT" b="1" dirty="0"/>
              <a:t> of cloud security services </a:t>
            </a:r>
            <a:r>
              <a:rPr lang="it-IT" b="1" dirty="0" err="1"/>
              <a:t>starting</a:t>
            </a:r>
            <a:r>
              <a:rPr lang="it-IT" b="1" dirty="0"/>
              <a:t> from high-</a:t>
            </a:r>
            <a:r>
              <a:rPr lang="it-IT" b="1" dirty="0" err="1"/>
              <a:t>level</a:t>
            </a:r>
            <a:r>
              <a:rPr lang="it-IT" b="1" dirty="0"/>
              <a:t> </a:t>
            </a:r>
            <a:r>
              <a:rPr lang="it-IT" b="1" dirty="0" err="1"/>
              <a:t>intents</a:t>
            </a:r>
            <a:r>
              <a:rPr lang="it-IT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t-IT" dirty="0" err="1"/>
              <a:t>Few</a:t>
            </a:r>
            <a:r>
              <a:rPr lang="it-IT" dirty="0"/>
              <a:t> papers </a:t>
            </a:r>
            <a:r>
              <a:rPr lang="it-IT" dirty="0" err="1"/>
              <a:t>adopts</a:t>
            </a:r>
            <a:r>
              <a:rPr lang="it-IT" dirty="0"/>
              <a:t> </a:t>
            </a:r>
            <a:r>
              <a:rPr lang="it-IT" dirty="0" err="1"/>
              <a:t>automation</a:t>
            </a:r>
            <a:r>
              <a:rPr lang="it-IT" dirty="0"/>
              <a:t> and </a:t>
            </a:r>
            <a:r>
              <a:rPr lang="it-IT" dirty="0" err="1"/>
              <a:t>formal</a:t>
            </a:r>
            <a:r>
              <a:rPr lang="it-IT" dirty="0"/>
              <a:t> models in </a:t>
            </a:r>
            <a:r>
              <a:rPr lang="it-IT" dirty="0" err="1"/>
              <a:t>Kubernetes</a:t>
            </a:r>
            <a:r>
              <a:rPr lang="it-IT" dirty="0"/>
              <a:t>.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it-IT" sz="2400" dirty="0"/>
              <a:t>Some papers are </a:t>
            </a:r>
            <a:r>
              <a:rPr lang="it-IT" sz="2400" dirty="0" err="1"/>
              <a:t>using</a:t>
            </a:r>
            <a:r>
              <a:rPr lang="it-IT" sz="2400" dirty="0"/>
              <a:t> </a:t>
            </a:r>
            <a:r>
              <a:rPr lang="it-IT" sz="2400" dirty="0" err="1"/>
              <a:t>formal</a:t>
            </a:r>
            <a:r>
              <a:rPr lang="it-IT" sz="2400" dirty="0"/>
              <a:t> </a:t>
            </a:r>
            <a:r>
              <a:rPr lang="it-IT" sz="2400" dirty="0" err="1"/>
              <a:t>modeling</a:t>
            </a:r>
            <a:r>
              <a:rPr lang="it-IT" sz="2400" dirty="0"/>
              <a:t> and </a:t>
            </a:r>
            <a:r>
              <a:rPr lang="it-IT" sz="2400" dirty="0" err="1"/>
              <a:t>automated</a:t>
            </a:r>
            <a:r>
              <a:rPr lang="it-IT" sz="2400" dirty="0"/>
              <a:t> tools to </a:t>
            </a:r>
            <a:r>
              <a:rPr lang="it-IT" sz="2400" dirty="0" err="1"/>
              <a:t>verify</a:t>
            </a:r>
            <a:r>
              <a:rPr lang="it-IT" sz="2400" dirty="0"/>
              <a:t> </a:t>
            </a:r>
            <a:r>
              <a:rPr lang="it-IT" sz="2400" dirty="0" err="1"/>
              <a:t>different</a:t>
            </a:r>
            <a:r>
              <a:rPr lang="it-IT" sz="2400" dirty="0"/>
              <a:t> security features on a </a:t>
            </a:r>
            <a:r>
              <a:rPr lang="it-IT" sz="2400" dirty="0" err="1"/>
              <a:t>given</a:t>
            </a:r>
            <a:r>
              <a:rPr lang="it-IT" sz="2400" dirty="0"/>
              <a:t> cloud system </a:t>
            </a:r>
            <a:r>
              <a:rPr lang="it-IT" sz="2400" dirty="0" err="1"/>
              <a:t>configuration</a:t>
            </a:r>
            <a:r>
              <a:rPr lang="it-IT" sz="2400" dirty="0"/>
              <a:t> (e.g., public </a:t>
            </a:r>
            <a:r>
              <a:rPr lang="it-IT" sz="2400" dirty="0" err="1"/>
              <a:t>exposure</a:t>
            </a:r>
            <a:r>
              <a:rPr lang="it-IT" sz="2400" dirty="0"/>
              <a:t> of S3 buckets, reachability queries, </a:t>
            </a:r>
            <a:r>
              <a:rPr lang="it-IT" sz="2400" dirty="0" err="1"/>
              <a:t>verification</a:t>
            </a:r>
            <a:r>
              <a:rPr lang="it-IT" sz="2400" dirty="0"/>
              <a:t> of access control rules)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it-IT" sz="2400" dirty="0" err="1"/>
              <a:t>Other</a:t>
            </a:r>
            <a:r>
              <a:rPr lang="it-IT" sz="2400" dirty="0"/>
              <a:t> works are </a:t>
            </a:r>
            <a:r>
              <a:rPr lang="it-IT" sz="2400" dirty="0" err="1"/>
              <a:t>considering</a:t>
            </a:r>
            <a:r>
              <a:rPr lang="it-IT" sz="2400" dirty="0"/>
              <a:t> the </a:t>
            </a:r>
            <a:r>
              <a:rPr lang="it-IT" sz="2400" dirty="0" err="1"/>
              <a:t>verification</a:t>
            </a:r>
            <a:r>
              <a:rPr lang="it-IT" sz="2400" dirty="0"/>
              <a:t> of general security best-practice by </a:t>
            </a:r>
            <a:r>
              <a:rPr lang="it-IT" sz="2400" dirty="0" err="1"/>
              <a:t>analyzing</a:t>
            </a:r>
            <a:r>
              <a:rPr lang="it-IT" sz="2400" dirty="0"/>
              <a:t> </a:t>
            </a:r>
            <a:r>
              <a:rPr lang="it-IT" sz="2400" dirty="0" err="1"/>
              <a:t>enriched-graph</a:t>
            </a:r>
            <a:r>
              <a:rPr lang="it-IT" sz="2400" dirty="0"/>
              <a:t> models </a:t>
            </a:r>
            <a:r>
              <a:rPr lang="it-IT" sz="2400" dirty="0" err="1"/>
              <a:t>that</a:t>
            </a:r>
            <a:r>
              <a:rPr lang="it-IT" sz="2400" dirty="0"/>
              <a:t> are </a:t>
            </a:r>
            <a:r>
              <a:rPr lang="it-IT" sz="2400" dirty="0" err="1"/>
              <a:t>extracted</a:t>
            </a:r>
            <a:r>
              <a:rPr lang="it-IT" sz="2400" dirty="0"/>
              <a:t> by </a:t>
            </a:r>
            <a:r>
              <a:rPr lang="it-IT" sz="2400" dirty="0" err="1"/>
              <a:t>parsing</a:t>
            </a:r>
            <a:r>
              <a:rPr lang="it-IT" sz="2400" dirty="0"/>
              <a:t> IaC and/or </a:t>
            </a:r>
            <a:r>
              <a:rPr lang="it-IT" sz="2400" dirty="0" err="1"/>
              <a:t>configuration</a:t>
            </a:r>
            <a:r>
              <a:rPr lang="it-IT" sz="2400" dirty="0"/>
              <a:t> files.</a:t>
            </a:r>
            <a:endParaRPr lang="it-IT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B46920-4236-ED59-1982-E665650A76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205655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D1F8E0B-9B0D-F2A2-31A3-E6EDE2D8BF40}"/>
              </a:ext>
            </a:extLst>
          </p:cNvPr>
          <p:cNvSpPr/>
          <p:nvPr/>
        </p:nvSpPr>
        <p:spPr>
          <a:xfrm>
            <a:off x="10102566" y="4458460"/>
            <a:ext cx="1792552" cy="153447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502A95-998C-6DF8-1118-C10C9D3B27D8}"/>
              </a:ext>
            </a:extLst>
          </p:cNvPr>
          <p:cNvSpPr/>
          <p:nvPr/>
        </p:nvSpPr>
        <p:spPr>
          <a:xfrm>
            <a:off x="8722360" y="4450080"/>
            <a:ext cx="1270000" cy="1542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3E713-B540-76E0-0A07-77E1F8F1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1118255"/>
          </a:xfrm>
        </p:spPr>
        <p:txBody>
          <a:bodyPr/>
          <a:lstStyle/>
          <a:p>
            <a:r>
              <a:rPr lang="en-US" dirty="0"/>
              <a:t>An intent-based solution for network isolation in Kubernetes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13F3-F74B-F411-523C-A687780437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467377"/>
            <a:ext cx="11662075" cy="361797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Security orchestrator to </a:t>
            </a:r>
            <a:r>
              <a:rPr lang="en-US" u="sng" dirty="0"/>
              <a:t>automate</a:t>
            </a:r>
            <a:r>
              <a:rPr lang="en-US" dirty="0"/>
              <a:t> the configuration of network isolation primitives across a multi-domain and multi-tenant cloud environment.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u="sng" dirty="0"/>
              <a:t>Intent-driven</a:t>
            </a:r>
            <a:r>
              <a:rPr lang="en-US" dirty="0"/>
              <a:t> declarative solution, i.e., users define their requirements in terms of prohibited and desired network communications through a user-friendly language.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Ongoing work within EU-founded project, FLUIDOS. Preliminary results will be presented soon at </a:t>
            </a:r>
            <a:r>
              <a:rPr lang="en-US" i="1" dirty="0" err="1"/>
              <a:t>SecSoft</a:t>
            </a:r>
            <a:r>
              <a:rPr lang="en-US" i="1" dirty="0"/>
              <a:t> 2024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028FD1-01DD-B320-A8D5-F25303ADB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30" y="4509260"/>
            <a:ext cx="11492463" cy="14735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FCA50E-A91E-E64E-C0CF-A81FC32FD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57589">
            <a:off x="4577710" y="4772003"/>
            <a:ext cx="1013372" cy="1013372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F3EA577-95E4-D477-A5A8-B0FBAFD8B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86069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713-B540-76E0-0A07-77E1F8F1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it-IT" dirty="0" err="1"/>
              <a:t>Reactive</a:t>
            </a:r>
            <a:r>
              <a:rPr lang="it-IT" dirty="0"/>
              <a:t> security </a:t>
            </a:r>
            <a:r>
              <a:rPr lang="it-IT" dirty="0" err="1"/>
              <a:t>mechanisms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13F3-F74B-F411-523C-A687780437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Automated approaches should collaborate with monitoring agents and, whenever a cyber attack is identified, an automated mitigation process should be triggered.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8CEFC-2585-417F-758C-8FC78CDD6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32" y="3008708"/>
            <a:ext cx="9668936" cy="2766467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B82BAFE-5440-0F56-A89E-6732E8E75B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7/11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B010C4-67B4-5B46-4EDD-016FE4EA9917}"/>
              </a:ext>
            </a:extLst>
          </p:cNvPr>
          <p:cNvCxnSpPr>
            <a:cxnSpLocks/>
          </p:cNvCxnSpPr>
          <p:nvPr/>
        </p:nvCxnSpPr>
        <p:spPr>
          <a:xfrm>
            <a:off x="3373083" y="3737669"/>
            <a:ext cx="0" cy="188497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EE0B61-9B15-9071-D9FC-C177FF7CC7C0}"/>
              </a:ext>
            </a:extLst>
          </p:cNvPr>
          <p:cNvCxnSpPr/>
          <p:nvPr/>
        </p:nvCxnSpPr>
        <p:spPr>
          <a:xfrm>
            <a:off x="3361508" y="5622648"/>
            <a:ext cx="24819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F3F75DA-1897-0148-74C9-CD2810656760}"/>
              </a:ext>
            </a:extLst>
          </p:cNvPr>
          <p:cNvCxnSpPr>
            <a:cxnSpLocks/>
          </p:cNvCxnSpPr>
          <p:nvPr/>
        </p:nvCxnSpPr>
        <p:spPr>
          <a:xfrm>
            <a:off x="3367749" y="3737669"/>
            <a:ext cx="2481943" cy="1172729"/>
          </a:xfrm>
          <a:prstGeom prst="bentConnector3">
            <a:avLst>
              <a:gd name="adj1" fmla="val 2193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E2F609-4EBD-67C0-0602-690088109469}"/>
              </a:ext>
            </a:extLst>
          </p:cNvPr>
          <p:cNvCxnSpPr/>
          <p:nvPr/>
        </p:nvCxnSpPr>
        <p:spPr>
          <a:xfrm>
            <a:off x="5861267" y="4910398"/>
            <a:ext cx="0" cy="7122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45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713-B540-76E0-0A07-77E1F8F1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it-IT" dirty="0" err="1"/>
              <a:t>Automated</a:t>
            </a:r>
            <a:r>
              <a:rPr lang="it-IT" dirty="0"/>
              <a:t> and </a:t>
            </a:r>
            <a:r>
              <a:rPr lang="it-IT" dirty="0" err="1"/>
              <a:t>optimal</a:t>
            </a:r>
            <a:r>
              <a:rPr lang="it-IT" dirty="0"/>
              <a:t> firewall </a:t>
            </a:r>
            <a:r>
              <a:rPr lang="it-IT" dirty="0" err="1"/>
              <a:t>reconfiguration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13F3-F74B-F411-523C-A687780437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i="1" u="sng" dirty="0"/>
              <a:t>Automated</a:t>
            </a:r>
            <a:r>
              <a:rPr lang="en-US" dirty="0"/>
              <a:t> approach for the </a:t>
            </a:r>
            <a:r>
              <a:rPr lang="en-US" i="1" u="sng" dirty="0"/>
              <a:t>optimal</a:t>
            </a:r>
            <a:r>
              <a:rPr lang="en-US" b="1" dirty="0"/>
              <a:t> </a:t>
            </a:r>
            <a:r>
              <a:rPr lang="en-US" dirty="0"/>
              <a:t>reconfiguration of distributed firewalls, within a short computation time, and (</a:t>
            </a:r>
            <a:r>
              <a:rPr lang="en-US" u="sng" dirty="0"/>
              <a:t>formally</a:t>
            </a:r>
            <a:r>
              <a:rPr lang="en-US" dirty="0"/>
              <a:t>) satisfying a new set of Network Security Requirements.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Obtained better scalability and performance with respect to state-of-the-art approaches.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B82BAFE-5440-0F56-A89E-6732E8E75B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8/11</a:t>
            </a:r>
          </a:p>
        </p:txBody>
      </p:sp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0560509-4389-CAC7-613B-74A0E2693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478" y="4023713"/>
            <a:ext cx="1690201" cy="1690201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EF4DF5-7C82-9830-DFD3-29D2DA0FF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55" y="4030111"/>
            <a:ext cx="1187272" cy="1187272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2CB203-2016-842C-AEB7-9C1AD19B4F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476" y="4361931"/>
            <a:ext cx="1237758" cy="1237758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8372D92-72DC-DBD8-A6E9-BC7BEE76291D}"/>
              </a:ext>
            </a:extLst>
          </p:cNvPr>
          <p:cNvSpPr/>
          <p:nvPr/>
        </p:nvSpPr>
        <p:spPr>
          <a:xfrm>
            <a:off x="2694934" y="4529312"/>
            <a:ext cx="591820" cy="160020"/>
          </a:xfrm>
          <a:custGeom>
            <a:avLst/>
            <a:gdLst>
              <a:gd name="connsiteX0" fmla="*/ 0 w 591820"/>
              <a:gd name="connsiteY0" fmla="*/ 134620 h 160020"/>
              <a:gd name="connsiteX1" fmla="*/ 7620 w 591820"/>
              <a:gd name="connsiteY1" fmla="*/ 109220 h 160020"/>
              <a:gd name="connsiteX2" fmla="*/ 12700 w 591820"/>
              <a:gd name="connsiteY2" fmla="*/ 91440 h 160020"/>
              <a:gd name="connsiteX3" fmla="*/ 33020 w 591820"/>
              <a:gd name="connsiteY3" fmla="*/ 50800 h 160020"/>
              <a:gd name="connsiteX4" fmla="*/ 40640 w 591820"/>
              <a:gd name="connsiteY4" fmla="*/ 43180 h 160020"/>
              <a:gd name="connsiteX5" fmla="*/ 58420 w 591820"/>
              <a:gd name="connsiteY5" fmla="*/ 15240 h 160020"/>
              <a:gd name="connsiteX6" fmla="*/ 66040 w 591820"/>
              <a:gd name="connsiteY6" fmla="*/ 12700 h 160020"/>
              <a:gd name="connsiteX7" fmla="*/ 88900 w 591820"/>
              <a:gd name="connsiteY7" fmla="*/ 20320 h 160020"/>
              <a:gd name="connsiteX8" fmla="*/ 106680 w 591820"/>
              <a:gd name="connsiteY8" fmla="*/ 48260 h 160020"/>
              <a:gd name="connsiteX9" fmla="*/ 109220 w 591820"/>
              <a:gd name="connsiteY9" fmla="*/ 58420 h 160020"/>
              <a:gd name="connsiteX10" fmla="*/ 114300 w 591820"/>
              <a:gd name="connsiteY10" fmla="*/ 66040 h 160020"/>
              <a:gd name="connsiteX11" fmla="*/ 119380 w 591820"/>
              <a:gd name="connsiteY11" fmla="*/ 76200 h 160020"/>
              <a:gd name="connsiteX12" fmla="*/ 139700 w 591820"/>
              <a:gd name="connsiteY12" fmla="*/ 101600 h 160020"/>
              <a:gd name="connsiteX13" fmla="*/ 144780 w 591820"/>
              <a:gd name="connsiteY13" fmla="*/ 109220 h 160020"/>
              <a:gd name="connsiteX14" fmla="*/ 162560 w 591820"/>
              <a:gd name="connsiteY14" fmla="*/ 121920 h 160020"/>
              <a:gd name="connsiteX15" fmla="*/ 182880 w 591820"/>
              <a:gd name="connsiteY15" fmla="*/ 137160 h 160020"/>
              <a:gd name="connsiteX16" fmla="*/ 226060 w 591820"/>
              <a:gd name="connsiteY16" fmla="*/ 124460 h 160020"/>
              <a:gd name="connsiteX17" fmla="*/ 251460 w 591820"/>
              <a:gd name="connsiteY17" fmla="*/ 86360 h 160020"/>
              <a:gd name="connsiteX18" fmla="*/ 264160 w 591820"/>
              <a:gd name="connsiteY18" fmla="*/ 73660 h 160020"/>
              <a:gd name="connsiteX19" fmla="*/ 274320 w 591820"/>
              <a:gd name="connsiteY19" fmla="*/ 58420 h 160020"/>
              <a:gd name="connsiteX20" fmla="*/ 281940 w 591820"/>
              <a:gd name="connsiteY20" fmla="*/ 48260 h 160020"/>
              <a:gd name="connsiteX21" fmla="*/ 287020 w 591820"/>
              <a:gd name="connsiteY21" fmla="*/ 27940 h 160020"/>
              <a:gd name="connsiteX22" fmla="*/ 294640 w 591820"/>
              <a:gd name="connsiteY22" fmla="*/ 15240 h 160020"/>
              <a:gd name="connsiteX23" fmla="*/ 322580 w 591820"/>
              <a:gd name="connsiteY23" fmla="*/ 0 h 160020"/>
              <a:gd name="connsiteX24" fmla="*/ 358140 w 591820"/>
              <a:gd name="connsiteY24" fmla="*/ 5080 h 160020"/>
              <a:gd name="connsiteX25" fmla="*/ 365760 w 591820"/>
              <a:gd name="connsiteY25" fmla="*/ 12700 h 160020"/>
              <a:gd name="connsiteX26" fmla="*/ 381000 w 591820"/>
              <a:gd name="connsiteY26" fmla="*/ 33020 h 160020"/>
              <a:gd name="connsiteX27" fmla="*/ 396240 w 591820"/>
              <a:gd name="connsiteY27" fmla="*/ 58420 h 160020"/>
              <a:gd name="connsiteX28" fmla="*/ 406400 w 591820"/>
              <a:gd name="connsiteY28" fmla="*/ 71120 h 160020"/>
              <a:gd name="connsiteX29" fmla="*/ 411480 w 591820"/>
              <a:gd name="connsiteY29" fmla="*/ 83820 h 160020"/>
              <a:gd name="connsiteX30" fmla="*/ 426720 w 591820"/>
              <a:gd name="connsiteY30" fmla="*/ 96520 h 160020"/>
              <a:gd name="connsiteX31" fmla="*/ 436880 w 591820"/>
              <a:gd name="connsiteY31" fmla="*/ 111760 h 160020"/>
              <a:gd name="connsiteX32" fmla="*/ 449580 w 591820"/>
              <a:gd name="connsiteY32" fmla="*/ 127000 h 160020"/>
              <a:gd name="connsiteX33" fmla="*/ 464820 w 591820"/>
              <a:gd name="connsiteY33" fmla="*/ 149860 h 160020"/>
              <a:gd name="connsiteX34" fmla="*/ 469900 w 591820"/>
              <a:gd name="connsiteY34" fmla="*/ 157480 h 160020"/>
              <a:gd name="connsiteX35" fmla="*/ 480060 w 591820"/>
              <a:gd name="connsiteY35" fmla="*/ 160020 h 160020"/>
              <a:gd name="connsiteX36" fmla="*/ 520700 w 591820"/>
              <a:gd name="connsiteY36" fmla="*/ 157480 h 160020"/>
              <a:gd name="connsiteX37" fmla="*/ 528320 w 591820"/>
              <a:gd name="connsiteY37" fmla="*/ 149860 h 160020"/>
              <a:gd name="connsiteX38" fmla="*/ 568960 w 591820"/>
              <a:gd name="connsiteY38" fmla="*/ 76200 h 160020"/>
              <a:gd name="connsiteX39" fmla="*/ 584200 w 591820"/>
              <a:gd name="connsiteY39" fmla="*/ 38100 h 160020"/>
              <a:gd name="connsiteX40" fmla="*/ 589280 w 591820"/>
              <a:gd name="connsiteY40" fmla="*/ 27940 h 160020"/>
              <a:gd name="connsiteX41" fmla="*/ 591820 w 591820"/>
              <a:gd name="connsiteY41" fmla="*/ 20320 h 160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591820" h="160020" extrusionOk="0">
                <a:moveTo>
                  <a:pt x="0" y="134620"/>
                </a:moveTo>
                <a:cubicBezTo>
                  <a:pt x="2153" y="101399"/>
                  <a:pt x="4377" y="132489"/>
                  <a:pt x="7620" y="109220"/>
                </a:cubicBezTo>
                <a:cubicBezTo>
                  <a:pt x="9590" y="103602"/>
                  <a:pt x="11297" y="97715"/>
                  <a:pt x="12700" y="91440"/>
                </a:cubicBezTo>
                <a:cubicBezTo>
                  <a:pt x="17589" y="79549"/>
                  <a:pt x="26789" y="57760"/>
                  <a:pt x="33020" y="50800"/>
                </a:cubicBezTo>
                <a:cubicBezTo>
                  <a:pt x="35736" y="48033"/>
                  <a:pt x="39038" y="46165"/>
                  <a:pt x="40640" y="43180"/>
                </a:cubicBezTo>
                <a:cubicBezTo>
                  <a:pt x="42453" y="40529"/>
                  <a:pt x="50496" y="21007"/>
                  <a:pt x="58420" y="15240"/>
                </a:cubicBezTo>
                <a:cubicBezTo>
                  <a:pt x="60865" y="12856"/>
                  <a:pt x="63296" y="13942"/>
                  <a:pt x="66040" y="12700"/>
                </a:cubicBezTo>
                <a:cubicBezTo>
                  <a:pt x="73516" y="13797"/>
                  <a:pt x="82527" y="14245"/>
                  <a:pt x="88900" y="20320"/>
                </a:cubicBezTo>
                <a:cubicBezTo>
                  <a:pt x="98668" y="24478"/>
                  <a:pt x="100949" y="40615"/>
                  <a:pt x="106680" y="48260"/>
                </a:cubicBezTo>
                <a:cubicBezTo>
                  <a:pt x="108304" y="51414"/>
                  <a:pt x="107636" y="55433"/>
                  <a:pt x="109220" y="58420"/>
                </a:cubicBezTo>
                <a:cubicBezTo>
                  <a:pt x="110577" y="60654"/>
                  <a:pt x="112148" y="62967"/>
                  <a:pt x="114300" y="66040"/>
                </a:cubicBezTo>
                <a:cubicBezTo>
                  <a:pt x="115914" y="68753"/>
                  <a:pt x="117257" y="73015"/>
                  <a:pt x="119380" y="76200"/>
                </a:cubicBezTo>
                <a:cubicBezTo>
                  <a:pt x="141399" y="113095"/>
                  <a:pt x="130140" y="84361"/>
                  <a:pt x="139700" y="101600"/>
                </a:cubicBezTo>
                <a:cubicBezTo>
                  <a:pt x="141998" y="104548"/>
                  <a:pt x="143053" y="107319"/>
                  <a:pt x="144780" y="109220"/>
                </a:cubicBezTo>
                <a:cubicBezTo>
                  <a:pt x="150436" y="114629"/>
                  <a:pt x="155060" y="118823"/>
                  <a:pt x="162560" y="121920"/>
                </a:cubicBezTo>
                <a:cubicBezTo>
                  <a:pt x="180796" y="140402"/>
                  <a:pt x="159826" y="124519"/>
                  <a:pt x="182880" y="137160"/>
                </a:cubicBezTo>
                <a:cubicBezTo>
                  <a:pt x="196546" y="132880"/>
                  <a:pt x="214665" y="133826"/>
                  <a:pt x="226060" y="124460"/>
                </a:cubicBezTo>
                <a:cubicBezTo>
                  <a:pt x="237525" y="117896"/>
                  <a:pt x="246023" y="92904"/>
                  <a:pt x="251460" y="86360"/>
                </a:cubicBezTo>
                <a:cubicBezTo>
                  <a:pt x="256288" y="80526"/>
                  <a:pt x="259094" y="79124"/>
                  <a:pt x="264160" y="73660"/>
                </a:cubicBezTo>
                <a:cubicBezTo>
                  <a:pt x="268632" y="68613"/>
                  <a:pt x="269973" y="62842"/>
                  <a:pt x="274320" y="58420"/>
                </a:cubicBezTo>
                <a:cubicBezTo>
                  <a:pt x="277091" y="53939"/>
                  <a:pt x="280997" y="51405"/>
                  <a:pt x="281940" y="48260"/>
                </a:cubicBezTo>
                <a:cubicBezTo>
                  <a:pt x="284681" y="42489"/>
                  <a:pt x="283595" y="34011"/>
                  <a:pt x="287020" y="27940"/>
                </a:cubicBezTo>
                <a:cubicBezTo>
                  <a:pt x="288906" y="23579"/>
                  <a:pt x="290370" y="18788"/>
                  <a:pt x="294640" y="15240"/>
                </a:cubicBezTo>
                <a:cubicBezTo>
                  <a:pt x="298055" y="11825"/>
                  <a:pt x="319488" y="1688"/>
                  <a:pt x="322580" y="0"/>
                </a:cubicBezTo>
                <a:cubicBezTo>
                  <a:pt x="334514" y="1443"/>
                  <a:pt x="347815" y="3880"/>
                  <a:pt x="358140" y="5080"/>
                </a:cubicBezTo>
                <a:cubicBezTo>
                  <a:pt x="361638" y="5219"/>
                  <a:pt x="362741" y="10481"/>
                  <a:pt x="365760" y="12700"/>
                </a:cubicBezTo>
                <a:cubicBezTo>
                  <a:pt x="372159" y="17687"/>
                  <a:pt x="376829" y="23941"/>
                  <a:pt x="381000" y="33020"/>
                </a:cubicBezTo>
                <a:cubicBezTo>
                  <a:pt x="385688" y="39995"/>
                  <a:pt x="391798" y="49948"/>
                  <a:pt x="396240" y="58420"/>
                </a:cubicBezTo>
                <a:cubicBezTo>
                  <a:pt x="399438" y="62593"/>
                  <a:pt x="403470" y="65704"/>
                  <a:pt x="406400" y="71120"/>
                </a:cubicBezTo>
                <a:cubicBezTo>
                  <a:pt x="408678" y="75196"/>
                  <a:pt x="409085" y="80726"/>
                  <a:pt x="411480" y="83820"/>
                </a:cubicBezTo>
                <a:cubicBezTo>
                  <a:pt x="414739" y="90313"/>
                  <a:pt x="423011" y="90350"/>
                  <a:pt x="426720" y="96520"/>
                </a:cubicBezTo>
                <a:cubicBezTo>
                  <a:pt x="430664" y="101417"/>
                  <a:pt x="433109" y="106571"/>
                  <a:pt x="436880" y="111760"/>
                </a:cubicBezTo>
                <a:cubicBezTo>
                  <a:pt x="440675" y="116867"/>
                  <a:pt x="445410" y="121755"/>
                  <a:pt x="449580" y="127000"/>
                </a:cubicBezTo>
                <a:cubicBezTo>
                  <a:pt x="461751" y="150698"/>
                  <a:pt x="448878" y="130836"/>
                  <a:pt x="464820" y="149860"/>
                </a:cubicBezTo>
                <a:cubicBezTo>
                  <a:pt x="466164" y="151555"/>
                  <a:pt x="467958" y="156277"/>
                  <a:pt x="469900" y="157480"/>
                </a:cubicBezTo>
                <a:cubicBezTo>
                  <a:pt x="471895" y="159239"/>
                  <a:pt x="476525" y="158543"/>
                  <a:pt x="480060" y="160020"/>
                </a:cubicBezTo>
                <a:cubicBezTo>
                  <a:pt x="494606" y="156787"/>
                  <a:pt x="509427" y="163501"/>
                  <a:pt x="520700" y="157480"/>
                </a:cubicBezTo>
                <a:cubicBezTo>
                  <a:pt x="523720" y="156419"/>
                  <a:pt x="526234" y="152060"/>
                  <a:pt x="528320" y="149860"/>
                </a:cubicBezTo>
                <a:cubicBezTo>
                  <a:pt x="537794" y="138630"/>
                  <a:pt x="561562" y="91727"/>
                  <a:pt x="568960" y="76200"/>
                </a:cubicBezTo>
                <a:cubicBezTo>
                  <a:pt x="584228" y="12825"/>
                  <a:pt x="578102" y="57822"/>
                  <a:pt x="584200" y="38100"/>
                </a:cubicBezTo>
                <a:cubicBezTo>
                  <a:pt x="585431" y="35273"/>
                  <a:pt x="587525" y="31807"/>
                  <a:pt x="589280" y="27940"/>
                </a:cubicBezTo>
                <a:cubicBezTo>
                  <a:pt x="590334" y="25479"/>
                  <a:pt x="591820" y="20320"/>
                  <a:pt x="591820" y="20320"/>
                </a:cubicBezTo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690929160">
                  <a:custGeom>
                    <a:avLst/>
                    <a:gdLst>
                      <a:gd name="connsiteX0" fmla="*/ 0 w 591820"/>
                      <a:gd name="connsiteY0" fmla="*/ 134620 h 160020"/>
                      <a:gd name="connsiteX1" fmla="*/ 7620 w 591820"/>
                      <a:gd name="connsiteY1" fmla="*/ 109220 h 160020"/>
                      <a:gd name="connsiteX2" fmla="*/ 12700 w 591820"/>
                      <a:gd name="connsiteY2" fmla="*/ 91440 h 160020"/>
                      <a:gd name="connsiteX3" fmla="*/ 33020 w 591820"/>
                      <a:gd name="connsiteY3" fmla="*/ 50800 h 160020"/>
                      <a:gd name="connsiteX4" fmla="*/ 40640 w 591820"/>
                      <a:gd name="connsiteY4" fmla="*/ 43180 h 160020"/>
                      <a:gd name="connsiteX5" fmla="*/ 58420 w 591820"/>
                      <a:gd name="connsiteY5" fmla="*/ 15240 h 160020"/>
                      <a:gd name="connsiteX6" fmla="*/ 66040 w 591820"/>
                      <a:gd name="connsiteY6" fmla="*/ 12700 h 160020"/>
                      <a:gd name="connsiteX7" fmla="*/ 88900 w 591820"/>
                      <a:gd name="connsiteY7" fmla="*/ 20320 h 160020"/>
                      <a:gd name="connsiteX8" fmla="*/ 106680 w 591820"/>
                      <a:gd name="connsiteY8" fmla="*/ 48260 h 160020"/>
                      <a:gd name="connsiteX9" fmla="*/ 109220 w 591820"/>
                      <a:gd name="connsiteY9" fmla="*/ 58420 h 160020"/>
                      <a:gd name="connsiteX10" fmla="*/ 114300 w 591820"/>
                      <a:gd name="connsiteY10" fmla="*/ 66040 h 160020"/>
                      <a:gd name="connsiteX11" fmla="*/ 119380 w 591820"/>
                      <a:gd name="connsiteY11" fmla="*/ 76200 h 160020"/>
                      <a:gd name="connsiteX12" fmla="*/ 139700 w 591820"/>
                      <a:gd name="connsiteY12" fmla="*/ 101600 h 160020"/>
                      <a:gd name="connsiteX13" fmla="*/ 144780 w 591820"/>
                      <a:gd name="connsiteY13" fmla="*/ 109220 h 160020"/>
                      <a:gd name="connsiteX14" fmla="*/ 162560 w 591820"/>
                      <a:gd name="connsiteY14" fmla="*/ 121920 h 160020"/>
                      <a:gd name="connsiteX15" fmla="*/ 182880 w 591820"/>
                      <a:gd name="connsiteY15" fmla="*/ 137160 h 160020"/>
                      <a:gd name="connsiteX16" fmla="*/ 226060 w 591820"/>
                      <a:gd name="connsiteY16" fmla="*/ 124460 h 160020"/>
                      <a:gd name="connsiteX17" fmla="*/ 251460 w 591820"/>
                      <a:gd name="connsiteY17" fmla="*/ 86360 h 160020"/>
                      <a:gd name="connsiteX18" fmla="*/ 264160 w 591820"/>
                      <a:gd name="connsiteY18" fmla="*/ 73660 h 160020"/>
                      <a:gd name="connsiteX19" fmla="*/ 274320 w 591820"/>
                      <a:gd name="connsiteY19" fmla="*/ 58420 h 160020"/>
                      <a:gd name="connsiteX20" fmla="*/ 281940 w 591820"/>
                      <a:gd name="connsiteY20" fmla="*/ 48260 h 160020"/>
                      <a:gd name="connsiteX21" fmla="*/ 287020 w 591820"/>
                      <a:gd name="connsiteY21" fmla="*/ 27940 h 160020"/>
                      <a:gd name="connsiteX22" fmla="*/ 294640 w 591820"/>
                      <a:gd name="connsiteY22" fmla="*/ 15240 h 160020"/>
                      <a:gd name="connsiteX23" fmla="*/ 322580 w 591820"/>
                      <a:gd name="connsiteY23" fmla="*/ 0 h 160020"/>
                      <a:gd name="connsiteX24" fmla="*/ 358140 w 591820"/>
                      <a:gd name="connsiteY24" fmla="*/ 5080 h 160020"/>
                      <a:gd name="connsiteX25" fmla="*/ 365760 w 591820"/>
                      <a:gd name="connsiteY25" fmla="*/ 12700 h 160020"/>
                      <a:gd name="connsiteX26" fmla="*/ 381000 w 591820"/>
                      <a:gd name="connsiteY26" fmla="*/ 33020 h 160020"/>
                      <a:gd name="connsiteX27" fmla="*/ 396240 w 591820"/>
                      <a:gd name="connsiteY27" fmla="*/ 58420 h 160020"/>
                      <a:gd name="connsiteX28" fmla="*/ 406400 w 591820"/>
                      <a:gd name="connsiteY28" fmla="*/ 71120 h 160020"/>
                      <a:gd name="connsiteX29" fmla="*/ 411480 w 591820"/>
                      <a:gd name="connsiteY29" fmla="*/ 83820 h 160020"/>
                      <a:gd name="connsiteX30" fmla="*/ 426720 w 591820"/>
                      <a:gd name="connsiteY30" fmla="*/ 96520 h 160020"/>
                      <a:gd name="connsiteX31" fmla="*/ 436880 w 591820"/>
                      <a:gd name="connsiteY31" fmla="*/ 111760 h 160020"/>
                      <a:gd name="connsiteX32" fmla="*/ 449580 w 591820"/>
                      <a:gd name="connsiteY32" fmla="*/ 127000 h 160020"/>
                      <a:gd name="connsiteX33" fmla="*/ 464820 w 591820"/>
                      <a:gd name="connsiteY33" fmla="*/ 149860 h 160020"/>
                      <a:gd name="connsiteX34" fmla="*/ 469900 w 591820"/>
                      <a:gd name="connsiteY34" fmla="*/ 157480 h 160020"/>
                      <a:gd name="connsiteX35" fmla="*/ 480060 w 591820"/>
                      <a:gd name="connsiteY35" fmla="*/ 160020 h 160020"/>
                      <a:gd name="connsiteX36" fmla="*/ 520700 w 591820"/>
                      <a:gd name="connsiteY36" fmla="*/ 157480 h 160020"/>
                      <a:gd name="connsiteX37" fmla="*/ 528320 w 591820"/>
                      <a:gd name="connsiteY37" fmla="*/ 149860 h 160020"/>
                      <a:gd name="connsiteX38" fmla="*/ 568960 w 591820"/>
                      <a:gd name="connsiteY38" fmla="*/ 76200 h 160020"/>
                      <a:gd name="connsiteX39" fmla="*/ 584200 w 591820"/>
                      <a:gd name="connsiteY39" fmla="*/ 38100 h 160020"/>
                      <a:gd name="connsiteX40" fmla="*/ 589280 w 591820"/>
                      <a:gd name="connsiteY40" fmla="*/ 27940 h 160020"/>
                      <a:gd name="connsiteX41" fmla="*/ 591820 w 591820"/>
                      <a:gd name="connsiteY41" fmla="*/ 20320 h 1600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591820" h="160020">
                        <a:moveTo>
                          <a:pt x="0" y="134620"/>
                        </a:moveTo>
                        <a:cubicBezTo>
                          <a:pt x="5480" y="101741"/>
                          <a:pt x="-1467" y="134209"/>
                          <a:pt x="7620" y="109220"/>
                        </a:cubicBezTo>
                        <a:cubicBezTo>
                          <a:pt x="9726" y="103427"/>
                          <a:pt x="10627" y="97245"/>
                          <a:pt x="12700" y="91440"/>
                        </a:cubicBezTo>
                        <a:cubicBezTo>
                          <a:pt x="17083" y="79167"/>
                          <a:pt x="26206" y="61021"/>
                          <a:pt x="33020" y="50800"/>
                        </a:cubicBezTo>
                        <a:cubicBezTo>
                          <a:pt x="35013" y="47811"/>
                          <a:pt x="38580" y="46123"/>
                          <a:pt x="40640" y="43180"/>
                        </a:cubicBezTo>
                        <a:cubicBezTo>
                          <a:pt x="43653" y="38876"/>
                          <a:pt x="52440" y="20224"/>
                          <a:pt x="58420" y="15240"/>
                        </a:cubicBezTo>
                        <a:cubicBezTo>
                          <a:pt x="60477" y="13526"/>
                          <a:pt x="63500" y="13547"/>
                          <a:pt x="66040" y="12700"/>
                        </a:cubicBezTo>
                        <a:cubicBezTo>
                          <a:pt x="73660" y="15240"/>
                          <a:pt x="81828" y="16512"/>
                          <a:pt x="88900" y="20320"/>
                        </a:cubicBezTo>
                        <a:cubicBezTo>
                          <a:pt x="99217" y="25875"/>
                          <a:pt x="103100" y="38415"/>
                          <a:pt x="106680" y="48260"/>
                        </a:cubicBezTo>
                        <a:cubicBezTo>
                          <a:pt x="107873" y="51541"/>
                          <a:pt x="107845" y="55211"/>
                          <a:pt x="109220" y="58420"/>
                        </a:cubicBezTo>
                        <a:cubicBezTo>
                          <a:pt x="110423" y="61226"/>
                          <a:pt x="112785" y="63390"/>
                          <a:pt x="114300" y="66040"/>
                        </a:cubicBezTo>
                        <a:cubicBezTo>
                          <a:pt x="116179" y="69328"/>
                          <a:pt x="117347" y="73006"/>
                          <a:pt x="119380" y="76200"/>
                        </a:cubicBezTo>
                        <a:cubicBezTo>
                          <a:pt x="141285" y="110622"/>
                          <a:pt x="123420" y="82064"/>
                          <a:pt x="139700" y="101600"/>
                        </a:cubicBezTo>
                        <a:cubicBezTo>
                          <a:pt x="141654" y="103945"/>
                          <a:pt x="142498" y="107192"/>
                          <a:pt x="144780" y="109220"/>
                        </a:cubicBezTo>
                        <a:cubicBezTo>
                          <a:pt x="150224" y="114059"/>
                          <a:pt x="156733" y="117550"/>
                          <a:pt x="162560" y="121920"/>
                        </a:cubicBezTo>
                        <a:cubicBezTo>
                          <a:pt x="186694" y="140021"/>
                          <a:pt x="165653" y="125675"/>
                          <a:pt x="182880" y="137160"/>
                        </a:cubicBezTo>
                        <a:cubicBezTo>
                          <a:pt x="197273" y="132927"/>
                          <a:pt x="212999" y="131842"/>
                          <a:pt x="226060" y="124460"/>
                        </a:cubicBezTo>
                        <a:cubicBezTo>
                          <a:pt x="235722" y="118999"/>
                          <a:pt x="244898" y="95109"/>
                          <a:pt x="251460" y="86360"/>
                        </a:cubicBezTo>
                        <a:cubicBezTo>
                          <a:pt x="255052" y="81571"/>
                          <a:pt x="260369" y="78294"/>
                          <a:pt x="264160" y="73660"/>
                        </a:cubicBezTo>
                        <a:cubicBezTo>
                          <a:pt x="268026" y="68935"/>
                          <a:pt x="270657" y="63304"/>
                          <a:pt x="274320" y="58420"/>
                        </a:cubicBezTo>
                        <a:lnTo>
                          <a:pt x="281940" y="48260"/>
                        </a:lnTo>
                        <a:cubicBezTo>
                          <a:pt x="283633" y="41487"/>
                          <a:pt x="284514" y="34456"/>
                          <a:pt x="287020" y="27940"/>
                        </a:cubicBezTo>
                        <a:cubicBezTo>
                          <a:pt x="288792" y="23332"/>
                          <a:pt x="291149" y="18731"/>
                          <a:pt x="294640" y="15240"/>
                        </a:cubicBezTo>
                        <a:cubicBezTo>
                          <a:pt x="298154" y="11726"/>
                          <a:pt x="319095" y="1742"/>
                          <a:pt x="322580" y="0"/>
                        </a:cubicBezTo>
                        <a:cubicBezTo>
                          <a:pt x="334433" y="1693"/>
                          <a:pt x="346653" y="1701"/>
                          <a:pt x="358140" y="5080"/>
                        </a:cubicBezTo>
                        <a:cubicBezTo>
                          <a:pt x="361586" y="6094"/>
                          <a:pt x="363485" y="9920"/>
                          <a:pt x="365760" y="12700"/>
                        </a:cubicBezTo>
                        <a:cubicBezTo>
                          <a:pt x="371121" y="19253"/>
                          <a:pt x="376644" y="25760"/>
                          <a:pt x="381000" y="33020"/>
                        </a:cubicBezTo>
                        <a:cubicBezTo>
                          <a:pt x="386080" y="41487"/>
                          <a:pt x="390072" y="50710"/>
                          <a:pt x="396240" y="58420"/>
                        </a:cubicBezTo>
                        <a:cubicBezTo>
                          <a:pt x="399627" y="62653"/>
                          <a:pt x="403611" y="66471"/>
                          <a:pt x="406400" y="71120"/>
                        </a:cubicBezTo>
                        <a:cubicBezTo>
                          <a:pt x="408746" y="75030"/>
                          <a:pt x="408632" y="80260"/>
                          <a:pt x="411480" y="83820"/>
                        </a:cubicBezTo>
                        <a:cubicBezTo>
                          <a:pt x="415611" y="88984"/>
                          <a:pt x="422272" y="91627"/>
                          <a:pt x="426720" y="96520"/>
                        </a:cubicBezTo>
                        <a:cubicBezTo>
                          <a:pt x="430827" y="101038"/>
                          <a:pt x="433217" y="106876"/>
                          <a:pt x="436880" y="111760"/>
                        </a:cubicBezTo>
                        <a:cubicBezTo>
                          <a:pt x="440848" y="117050"/>
                          <a:pt x="445347" y="121920"/>
                          <a:pt x="449580" y="127000"/>
                        </a:cubicBezTo>
                        <a:cubicBezTo>
                          <a:pt x="458031" y="148129"/>
                          <a:pt x="449763" y="132293"/>
                          <a:pt x="464820" y="149860"/>
                        </a:cubicBezTo>
                        <a:cubicBezTo>
                          <a:pt x="466807" y="152178"/>
                          <a:pt x="467360" y="155787"/>
                          <a:pt x="469900" y="157480"/>
                        </a:cubicBezTo>
                        <a:cubicBezTo>
                          <a:pt x="472805" y="159416"/>
                          <a:pt x="476673" y="159173"/>
                          <a:pt x="480060" y="160020"/>
                        </a:cubicBezTo>
                        <a:cubicBezTo>
                          <a:pt x="493607" y="159173"/>
                          <a:pt x="507418" y="160276"/>
                          <a:pt x="520700" y="157480"/>
                        </a:cubicBezTo>
                        <a:cubicBezTo>
                          <a:pt x="524215" y="156740"/>
                          <a:pt x="526285" y="152820"/>
                          <a:pt x="528320" y="149860"/>
                        </a:cubicBezTo>
                        <a:cubicBezTo>
                          <a:pt x="539051" y="134252"/>
                          <a:pt x="563401" y="92878"/>
                          <a:pt x="568960" y="76200"/>
                        </a:cubicBezTo>
                        <a:cubicBezTo>
                          <a:pt x="587818" y="19626"/>
                          <a:pt x="570975" y="61243"/>
                          <a:pt x="584200" y="38100"/>
                        </a:cubicBezTo>
                        <a:cubicBezTo>
                          <a:pt x="586079" y="34812"/>
                          <a:pt x="587788" y="31420"/>
                          <a:pt x="589280" y="27940"/>
                        </a:cubicBezTo>
                        <a:cubicBezTo>
                          <a:pt x="590335" y="25479"/>
                          <a:pt x="591820" y="20320"/>
                          <a:pt x="591820" y="2032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FD9525-3998-759E-E21C-382541D2B85A}"/>
              </a:ext>
            </a:extLst>
          </p:cNvPr>
          <p:cNvSpPr/>
          <p:nvPr/>
        </p:nvSpPr>
        <p:spPr>
          <a:xfrm>
            <a:off x="2656199" y="5255752"/>
            <a:ext cx="567690" cy="17511"/>
          </a:xfrm>
          <a:custGeom>
            <a:avLst/>
            <a:gdLst>
              <a:gd name="connsiteX0" fmla="*/ 0 w 567690"/>
              <a:gd name="connsiteY0" fmla="*/ 11430 h 17511"/>
              <a:gd name="connsiteX1" fmla="*/ 60960 w 567690"/>
              <a:gd name="connsiteY1" fmla="*/ 15240 h 17511"/>
              <a:gd name="connsiteX2" fmla="*/ 81915 w 567690"/>
              <a:gd name="connsiteY2" fmla="*/ 7620 h 17511"/>
              <a:gd name="connsiteX3" fmla="*/ 91440 w 567690"/>
              <a:gd name="connsiteY3" fmla="*/ 3810 h 17511"/>
              <a:gd name="connsiteX4" fmla="*/ 104775 w 567690"/>
              <a:gd name="connsiteY4" fmla="*/ 0 h 17511"/>
              <a:gd name="connsiteX5" fmla="*/ 148590 w 567690"/>
              <a:gd name="connsiteY5" fmla="*/ 5715 h 17511"/>
              <a:gd name="connsiteX6" fmla="*/ 156210 w 567690"/>
              <a:gd name="connsiteY6" fmla="*/ 9525 h 17511"/>
              <a:gd name="connsiteX7" fmla="*/ 207645 w 567690"/>
              <a:gd name="connsiteY7" fmla="*/ 7620 h 17511"/>
              <a:gd name="connsiteX8" fmla="*/ 234315 w 567690"/>
              <a:gd name="connsiteY8" fmla="*/ 0 h 17511"/>
              <a:gd name="connsiteX9" fmla="*/ 276225 w 567690"/>
              <a:gd name="connsiteY9" fmla="*/ 1905 h 17511"/>
              <a:gd name="connsiteX10" fmla="*/ 289560 w 567690"/>
              <a:gd name="connsiteY10" fmla="*/ 7620 h 17511"/>
              <a:gd name="connsiteX11" fmla="*/ 300990 w 567690"/>
              <a:gd name="connsiteY11" fmla="*/ 9525 h 17511"/>
              <a:gd name="connsiteX12" fmla="*/ 333375 w 567690"/>
              <a:gd name="connsiteY12" fmla="*/ 15240 h 17511"/>
              <a:gd name="connsiteX13" fmla="*/ 348615 w 567690"/>
              <a:gd name="connsiteY13" fmla="*/ 17145 h 17511"/>
              <a:gd name="connsiteX14" fmla="*/ 384810 w 567690"/>
              <a:gd name="connsiteY14" fmla="*/ 15240 h 17511"/>
              <a:gd name="connsiteX15" fmla="*/ 447675 w 567690"/>
              <a:gd name="connsiteY15" fmla="*/ 13335 h 17511"/>
              <a:gd name="connsiteX16" fmla="*/ 470535 w 567690"/>
              <a:gd name="connsiteY16" fmla="*/ 9525 h 17511"/>
              <a:gd name="connsiteX17" fmla="*/ 487680 w 567690"/>
              <a:gd name="connsiteY17" fmla="*/ 5715 h 17511"/>
              <a:gd name="connsiteX18" fmla="*/ 516255 w 567690"/>
              <a:gd name="connsiteY18" fmla="*/ 9525 h 17511"/>
              <a:gd name="connsiteX19" fmla="*/ 539115 w 567690"/>
              <a:gd name="connsiteY19" fmla="*/ 17145 h 17511"/>
              <a:gd name="connsiteX20" fmla="*/ 567690 w 567690"/>
              <a:gd name="connsiteY20" fmla="*/ 17145 h 1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67690" h="17511" extrusionOk="0">
                <a:moveTo>
                  <a:pt x="0" y="11430"/>
                </a:moveTo>
                <a:cubicBezTo>
                  <a:pt x="43517" y="17834"/>
                  <a:pt x="21897" y="17764"/>
                  <a:pt x="60960" y="15240"/>
                </a:cubicBezTo>
                <a:cubicBezTo>
                  <a:pt x="67673" y="12223"/>
                  <a:pt x="74955" y="9789"/>
                  <a:pt x="81915" y="7620"/>
                </a:cubicBezTo>
                <a:cubicBezTo>
                  <a:pt x="84902" y="6364"/>
                  <a:pt x="88360" y="4464"/>
                  <a:pt x="91440" y="3810"/>
                </a:cubicBezTo>
                <a:cubicBezTo>
                  <a:pt x="95907" y="1589"/>
                  <a:pt x="99637" y="1418"/>
                  <a:pt x="104775" y="0"/>
                </a:cubicBezTo>
                <a:cubicBezTo>
                  <a:pt x="120333" y="37"/>
                  <a:pt x="133198" y="2910"/>
                  <a:pt x="148590" y="5715"/>
                </a:cubicBezTo>
                <a:cubicBezTo>
                  <a:pt x="151198" y="6832"/>
                  <a:pt x="152922" y="9184"/>
                  <a:pt x="156210" y="9525"/>
                </a:cubicBezTo>
                <a:cubicBezTo>
                  <a:pt x="179939" y="6369"/>
                  <a:pt x="190544" y="9430"/>
                  <a:pt x="207645" y="7620"/>
                </a:cubicBezTo>
                <a:cubicBezTo>
                  <a:pt x="217272" y="3823"/>
                  <a:pt x="223521" y="3725"/>
                  <a:pt x="234315" y="0"/>
                </a:cubicBezTo>
                <a:cubicBezTo>
                  <a:pt x="246008" y="-276"/>
                  <a:pt x="265444" y="1043"/>
                  <a:pt x="276225" y="1905"/>
                </a:cubicBezTo>
                <a:cubicBezTo>
                  <a:pt x="281433" y="2081"/>
                  <a:pt x="284738" y="5653"/>
                  <a:pt x="289560" y="7620"/>
                </a:cubicBezTo>
                <a:cubicBezTo>
                  <a:pt x="293542" y="8641"/>
                  <a:pt x="297276" y="8955"/>
                  <a:pt x="300990" y="9525"/>
                </a:cubicBezTo>
                <a:cubicBezTo>
                  <a:pt x="315488" y="12185"/>
                  <a:pt x="313180" y="12914"/>
                  <a:pt x="333375" y="15240"/>
                </a:cubicBezTo>
                <a:cubicBezTo>
                  <a:pt x="338826" y="16502"/>
                  <a:pt x="342627" y="15996"/>
                  <a:pt x="348615" y="17145"/>
                </a:cubicBezTo>
                <a:cubicBezTo>
                  <a:pt x="360356" y="15541"/>
                  <a:pt x="368538" y="16118"/>
                  <a:pt x="384810" y="15240"/>
                </a:cubicBezTo>
                <a:cubicBezTo>
                  <a:pt x="405327" y="10374"/>
                  <a:pt x="425463" y="14239"/>
                  <a:pt x="447675" y="13335"/>
                </a:cubicBezTo>
                <a:cubicBezTo>
                  <a:pt x="457156" y="12308"/>
                  <a:pt x="463163" y="10676"/>
                  <a:pt x="470535" y="9525"/>
                </a:cubicBezTo>
                <a:cubicBezTo>
                  <a:pt x="478730" y="8047"/>
                  <a:pt x="480110" y="7585"/>
                  <a:pt x="487680" y="5715"/>
                </a:cubicBezTo>
                <a:cubicBezTo>
                  <a:pt x="497044" y="7229"/>
                  <a:pt x="505871" y="7185"/>
                  <a:pt x="516255" y="9525"/>
                </a:cubicBezTo>
                <a:cubicBezTo>
                  <a:pt x="545377" y="7212"/>
                  <a:pt x="499911" y="12260"/>
                  <a:pt x="539115" y="17145"/>
                </a:cubicBezTo>
                <a:cubicBezTo>
                  <a:pt x="548395" y="18236"/>
                  <a:pt x="557038" y="16327"/>
                  <a:pt x="567690" y="17145"/>
                </a:cubicBezTo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38609205">
                  <a:custGeom>
                    <a:avLst/>
                    <a:gdLst>
                      <a:gd name="connsiteX0" fmla="*/ 0 w 567690"/>
                      <a:gd name="connsiteY0" fmla="*/ 11430 h 17511"/>
                      <a:gd name="connsiteX1" fmla="*/ 60960 w 567690"/>
                      <a:gd name="connsiteY1" fmla="*/ 15240 h 17511"/>
                      <a:gd name="connsiteX2" fmla="*/ 81915 w 567690"/>
                      <a:gd name="connsiteY2" fmla="*/ 7620 h 17511"/>
                      <a:gd name="connsiteX3" fmla="*/ 91440 w 567690"/>
                      <a:gd name="connsiteY3" fmla="*/ 3810 h 17511"/>
                      <a:gd name="connsiteX4" fmla="*/ 104775 w 567690"/>
                      <a:gd name="connsiteY4" fmla="*/ 0 h 17511"/>
                      <a:gd name="connsiteX5" fmla="*/ 148590 w 567690"/>
                      <a:gd name="connsiteY5" fmla="*/ 5715 h 17511"/>
                      <a:gd name="connsiteX6" fmla="*/ 156210 w 567690"/>
                      <a:gd name="connsiteY6" fmla="*/ 9525 h 17511"/>
                      <a:gd name="connsiteX7" fmla="*/ 207645 w 567690"/>
                      <a:gd name="connsiteY7" fmla="*/ 7620 h 17511"/>
                      <a:gd name="connsiteX8" fmla="*/ 234315 w 567690"/>
                      <a:gd name="connsiteY8" fmla="*/ 0 h 17511"/>
                      <a:gd name="connsiteX9" fmla="*/ 276225 w 567690"/>
                      <a:gd name="connsiteY9" fmla="*/ 1905 h 17511"/>
                      <a:gd name="connsiteX10" fmla="*/ 289560 w 567690"/>
                      <a:gd name="connsiteY10" fmla="*/ 7620 h 17511"/>
                      <a:gd name="connsiteX11" fmla="*/ 300990 w 567690"/>
                      <a:gd name="connsiteY11" fmla="*/ 9525 h 17511"/>
                      <a:gd name="connsiteX12" fmla="*/ 333375 w 567690"/>
                      <a:gd name="connsiteY12" fmla="*/ 15240 h 17511"/>
                      <a:gd name="connsiteX13" fmla="*/ 348615 w 567690"/>
                      <a:gd name="connsiteY13" fmla="*/ 17145 h 17511"/>
                      <a:gd name="connsiteX14" fmla="*/ 384810 w 567690"/>
                      <a:gd name="connsiteY14" fmla="*/ 15240 h 17511"/>
                      <a:gd name="connsiteX15" fmla="*/ 447675 w 567690"/>
                      <a:gd name="connsiteY15" fmla="*/ 13335 h 17511"/>
                      <a:gd name="connsiteX16" fmla="*/ 470535 w 567690"/>
                      <a:gd name="connsiteY16" fmla="*/ 9525 h 17511"/>
                      <a:gd name="connsiteX17" fmla="*/ 487680 w 567690"/>
                      <a:gd name="connsiteY17" fmla="*/ 5715 h 17511"/>
                      <a:gd name="connsiteX18" fmla="*/ 516255 w 567690"/>
                      <a:gd name="connsiteY18" fmla="*/ 9525 h 17511"/>
                      <a:gd name="connsiteX19" fmla="*/ 539115 w 567690"/>
                      <a:gd name="connsiteY19" fmla="*/ 17145 h 17511"/>
                      <a:gd name="connsiteX20" fmla="*/ 567690 w 567690"/>
                      <a:gd name="connsiteY20" fmla="*/ 17145 h 175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67690" h="17511">
                        <a:moveTo>
                          <a:pt x="0" y="11430"/>
                        </a:moveTo>
                        <a:cubicBezTo>
                          <a:pt x="44373" y="18436"/>
                          <a:pt x="24017" y="18082"/>
                          <a:pt x="60960" y="15240"/>
                        </a:cubicBezTo>
                        <a:lnTo>
                          <a:pt x="81915" y="7620"/>
                        </a:lnTo>
                        <a:cubicBezTo>
                          <a:pt x="85117" y="6419"/>
                          <a:pt x="88196" y="4891"/>
                          <a:pt x="91440" y="3810"/>
                        </a:cubicBezTo>
                        <a:cubicBezTo>
                          <a:pt x="95826" y="2348"/>
                          <a:pt x="100330" y="1270"/>
                          <a:pt x="104775" y="0"/>
                        </a:cubicBezTo>
                        <a:cubicBezTo>
                          <a:pt x="119380" y="1905"/>
                          <a:pt x="134108" y="3033"/>
                          <a:pt x="148590" y="5715"/>
                        </a:cubicBezTo>
                        <a:cubicBezTo>
                          <a:pt x="151382" y="6232"/>
                          <a:pt x="153372" y="9433"/>
                          <a:pt x="156210" y="9525"/>
                        </a:cubicBezTo>
                        <a:lnTo>
                          <a:pt x="207645" y="7620"/>
                        </a:lnTo>
                        <a:cubicBezTo>
                          <a:pt x="216628" y="5374"/>
                          <a:pt x="225528" y="2929"/>
                          <a:pt x="234315" y="0"/>
                        </a:cubicBezTo>
                        <a:cubicBezTo>
                          <a:pt x="248285" y="635"/>
                          <a:pt x="262372" y="-6"/>
                          <a:pt x="276225" y="1905"/>
                        </a:cubicBezTo>
                        <a:cubicBezTo>
                          <a:pt x="281016" y="2566"/>
                          <a:pt x="284938" y="6198"/>
                          <a:pt x="289560" y="7620"/>
                        </a:cubicBezTo>
                        <a:cubicBezTo>
                          <a:pt x="293252" y="8756"/>
                          <a:pt x="297190" y="8834"/>
                          <a:pt x="300990" y="9525"/>
                        </a:cubicBezTo>
                        <a:cubicBezTo>
                          <a:pt x="315554" y="12173"/>
                          <a:pt x="313372" y="12740"/>
                          <a:pt x="333375" y="15240"/>
                        </a:cubicBezTo>
                        <a:lnTo>
                          <a:pt x="348615" y="17145"/>
                        </a:lnTo>
                        <a:lnTo>
                          <a:pt x="384810" y="15240"/>
                        </a:lnTo>
                        <a:cubicBezTo>
                          <a:pt x="405759" y="14434"/>
                          <a:pt x="426757" y="14730"/>
                          <a:pt x="447675" y="13335"/>
                        </a:cubicBezTo>
                        <a:cubicBezTo>
                          <a:pt x="455383" y="12821"/>
                          <a:pt x="462927" y="10868"/>
                          <a:pt x="470535" y="9525"/>
                        </a:cubicBezTo>
                        <a:cubicBezTo>
                          <a:pt x="478758" y="8074"/>
                          <a:pt x="480048" y="7623"/>
                          <a:pt x="487680" y="5715"/>
                        </a:cubicBezTo>
                        <a:cubicBezTo>
                          <a:pt x="497205" y="6985"/>
                          <a:pt x="506852" y="7545"/>
                          <a:pt x="516255" y="9525"/>
                        </a:cubicBezTo>
                        <a:cubicBezTo>
                          <a:pt x="544504" y="15472"/>
                          <a:pt x="491718" y="13024"/>
                          <a:pt x="539115" y="17145"/>
                        </a:cubicBezTo>
                        <a:cubicBezTo>
                          <a:pt x="548604" y="17970"/>
                          <a:pt x="558165" y="17145"/>
                          <a:pt x="567690" y="17145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DCFB6-50F7-E370-BCD7-769353968E22}"/>
              </a:ext>
            </a:extLst>
          </p:cNvPr>
          <p:cNvSpPr txBox="1"/>
          <p:nvPr/>
        </p:nvSpPr>
        <p:spPr>
          <a:xfrm>
            <a:off x="682450" y="5194792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INITIAL SET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9D02D7-920D-B175-A63D-C59561972354}"/>
              </a:ext>
            </a:extLst>
          </p:cNvPr>
          <p:cNvSpPr txBox="1"/>
          <p:nvPr/>
        </p:nvSpPr>
        <p:spPr>
          <a:xfrm>
            <a:off x="2085745" y="5582297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TARGET SET</a:t>
            </a:r>
            <a:endParaRPr lang="en-US" dirty="0"/>
          </a:p>
        </p:txBody>
      </p:sp>
      <p:pic>
        <p:nvPicPr>
          <p:cNvPr id="18" name="Picture 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88867F2-0D2F-BB09-F256-DEB5E0978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805" y="3999631"/>
            <a:ext cx="1690200" cy="1690200"/>
          </a:xfrm>
          <a:prstGeom prst="rect">
            <a:avLst/>
          </a:prstGeom>
        </p:spPr>
      </p:pic>
      <p:pic>
        <p:nvPicPr>
          <p:cNvPr id="19" name="Picture 18" descr="A firewall with a shield and a check mark&#10;&#10;Description automatically generated">
            <a:extLst>
              <a:ext uri="{FF2B5EF4-FFF2-40B4-BE49-F238E27FC236}">
                <a16:creationId xmlns:a16="http://schemas.microsoft.com/office/drawing/2014/main" id="{424F7154-39B9-3020-FA29-5670AF34DA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607" y="4482585"/>
            <a:ext cx="588127" cy="588127"/>
          </a:xfrm>
          <a:prstGeom prst="rect">
            <a:avLst/>
          </a:prstGeom>
        </p:spPr>
      </p:pic>
      <p:pic>
        <p:nvPicPr>
          <p:cNvPr id="20" name="Picture 19" descr="A firewall with a shield and a check mark&#10;&#10;Description automatically generated">
            <a:extLst>
              <a:ext uri="{FF2B5EF4-FFF2-40B4-BE49-F238E27FC236}">
                <a16:creationId xmlns:a16="http://schemas.microsoft.com/office/drawing/2014/main" id="{455C33D3-9A6E-1458-2C22-17EE5868E9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279" y="4820403"/>
            <a:ext cx="588127" cy="588127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55BC9D6B-09D4-DF74-DCD0-F21A84A207C2}"/>
              </a:ext>
            </a:extLst>
          </p:cNvPr>
          <p:cNvSpPr/>
          <p:nvPr/>
        </p:nvSpPr>
        <p:spPr>
          <a:xfrm>
            <a:off x="6509822" y="4498831"/>
            <a:ext cx="1198608" cy="8640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0EEFC6-9F97-B290-2997-FCDCEACA9080}"/>
              </a:ext>
            </a:extLst>
          </p:cNvPr>
          <p:cNvSpPr txBox="1"/>
          <p:nvPr/>
        </p:nvSpPr>
        <p:spPr>
          <a:xfrm>
            <a:off x="3970613" y="5594604"/>
            <a:ext cx="2619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NETWORK TOPOLOGY</a:t>
            </a:r>
          </a:p>
          <a:p>
            <a:endParaRPr lang="en-US" dirty="0"/>
          </a:p>
        </p:txBody>
      </p:sp>
      <p:pic>
        <p:nvPicPr>
          <p:cNvPr id="24" name="Picture 23" descr="A firewall with a shield and a check mark&#10;&#10;Description automatically generated">
            <a:extLst>
              <a:ext uri="{FF2B5EF4-FFF2-40B4-BE49-F238E27FC236}">
                <a16:creationId xmlns:a16="http://schemas.microsoft.com/office/drawing/2014/main" id="{EFB5D8C7-273C-D73C-6A1F-8E13506934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478" y="4844731"/>
            <a:ext cx="588127" cy="58812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84063E-350E-1153-1013-588DDEA70ECA}"/>
              </a:ext>
            </a:extLst>
          </p:cNvPr>
          <p:cNvSpPr txBox="1"/>
          <p:nvPr/>
        </p:nvSpPr>
        <p:spPr>
          <a:xfrm>
            <a:off x="7551879" y="5628463"/>
            <a:ext cx="3706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UPDATED</a:t>
            </a:r>
            <a:r>
              <a:rPr lang="it-IT" dirty="0"/>
              <a:t> NETWORK TOPOLOGY</a:t>
            </a:r>
          </a:p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F1E0FE-74DC-DA22-A964-C6BBB6CA8A50}"/>
              </a:ext>
            </a:extLst>
          </p:cNvPr>
          <p:cNvCxnSpPr>
            <a:cxnSpLocks/>
          </p:cNvCxnSpPr>
          <p:nvPr/>
        </p:nvCxnSpPr>
        <p:spPr>
          <a:xfrm>
            <a:off x="3722713" y="3938417"/>
            <a:ext cx="0" cy="20891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563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13F3-F74B-F411-523C-A687780437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400" y="1548000"/>
            <a:ext cx="11662075" cy="126553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Exploit IDS alerts as real-time input to a network security automation approach, obtaining a reactive solution able to </a:t>
            </a:r>
            <a:r>
              <a:rPr lang="en-US" u="sng" dirty="0"/>
              <a:t>dynamically</a:t>
            </a:r>
            <a:r>
              <a:rPr lang="en-US" dirty="0"/>
              <a:t> reconfigure the network’s security posture to face network attacks.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B82BAFE-5440-0F56-A89E-6732E8E75B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9/11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5F7002-658F-9D99-92AF-138CFAD78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it-IT" dirty="0" err="1"/>
              <a:t>Reactive</a:t>
            </a:r>
            <a:r>
              <a:rPr lang="it-IT" dirty="0"/>
              <a:t> security framework</a:t>
            </a:r>
            <a:endParaRPr lang="en-US" dirty="0"/>
          </a:p>
        </p:txBody>
      </p:sp>
      <p:pic>
        <p:nvPicPr>
          <p:cNvPr id="6" name="Picture 5" descr="A video game screen with arrows and icons&#10;&#10;Description automatically generated">
            <a:extLst>
              <a:ext uri="{FF2B5EF4-FFF2-40B4-BE49-F238E27FC236}">
                <a16:creationId xmlns:a16="http://schemas.microsoft.com/office/drawing/2014/main" id="{B25AB291-F786-6710-1BE1-975D655F2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395" y="2435973"/>
            <a:ext cx="5561605" cy="3796055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47E2E4D-B49A-F004-A6C1-72499C1ADF98}"/>
              </a:ext>
            </a:extLst>
          </p:cNvPr>
          <p:cNvSpPr txBox="1">
            <a:spLocks/>
          </p:cNvSpPr>
          <p:nvPr/>
        </p:nvSpPr>
        <p:spPr>
          <a:xfrm>
            <a:off x="264963" y="3010886"/>
            <a:ext cx="6077964" cy="330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Different parsers are needed to efficiently process alerts generated by various IDS (e.g., SNORT3, OSSEC).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After policy extraction, the new requirements are merged to the current set and the network is reconfigured.</a:t>
            </a:r>
          </a:p>
        </p:txBody>
      </p:sp>
    </p:spTree>
    <p:extLst>
      <p:ext uri="{BB962C8B-B14F-4D97-AF65-F5344CB8AC3E}">
        <p14:creationId xmlns:p14="http://schemas.microsoft.com/office/powerpoint/2010/main" val="1005716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896A-3A72-9257-C3AE-06611D48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2075" cy="605294"/>
          </a:xfrm>
        </p:spPr>
        <p:txBody>
          <a:bodyPr/>
          <a:lstStyle/>
          <a:p>
            <a:r>
              <a:rPr lang="it-IT" dirty="0"/>
              <a:t>Future </a:t>
            </a:r>
            <a:r>
              <a:rPr lang="it-IT" dirty="0" err="1"/>
              <a:t>research</a:t>
            </a:r>
            <a:r>
              <a:rPr lang="it-IT" dirty="0"/>
              <a:t> </a:t>
            </a:r>
            <a:r>
              <a:rPr lang="it-IT" dirty="0" err="1"/>
              <a:t>directions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2A02E-8857-A712-958E-B7C89BF16FD5}"/>
              </a:ext>
            </a:extLst>
          </p:cNvPr>
          <p:cNvSpPr txBox="1">
            <a:spLocks/>
          </p:cNvSpPr>
          <p:nvPr/>
        </p:nvSpPr>
        <p:spPr>
          <a:xfrm>
            <a:off x="266400" y="1548000"/>
            <a:ext cx="11662075" cy="438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/>
              <a:t>Design of an approach for the automatic and optimal enforcement of access control in Kubernetes using an intent-based workflow. </a:t>
            </a:r>
          </a:p>
          <a:p>
            <a:pPr marL="1143000" lvl="1" indent="-457200"/>
            <a:r>
              <a:rPr lang="en-US" dirty="0"/>
              <a:t>access control has a very important role in the security hardening of a system, and it is an area where similar approaches have already been employed in traditional and virtualized networks.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Further research towards the design of the reactive security framework.</a:t>
            </a:r>
          </a:p>
          <a:p>
            <a:pPr marL="1143000" lvl="1" indent="-457200"/>
            <a:r>
              <a:rPr lang="en-US" dirty="0"/>
              <a:t>investigate potential ways to integrate a similar framework within Kubernetes</a:t>
            </a:r>
          </a:p>
          <a:p>
            <a:pPr marL="1143000" lvl="1" indent="-457200"/>
            <a:r>
              <a:rPr lang="en-US" dirty="0"/>
              <a:t>focus on enhancing a critical aspect of this kind of systems, the policy extraction engine, that is currently carried out in a simplistic manner, and there is potential for improvement to optimize this process.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D951E2A-8C01-CE44-DAF5-374507F10415}"/>
              </a:ext>
            </a:extLst>
          </p:cNvPr>
          <p:cNvSpPr txBox="1">
            <a:spLocks/>
          </p:cNvSpPr>
          <p:nvPr/>
        </p:nvSpPr>
        <p:spPr>
          <a:xfrm>
            <a:off x="1909824" y="6362245"/>
            <a:ext cx="10126652" cy="433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›"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72701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B6DA13-F7E3-9F85-AD19-919CEDB7E045}"/>
              </a:ext>
            </a:extLst>
          </p:cNvPr>
          <p:cNvSpPr txBox="1"/>
          <p:nvPr/>
        </p:nvSpPr>
        <p:spPr>
          <a:xfrm>
            <a:off x="2502047" y="2245755"/>
            <a:ext cx="886263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Thanks for your attention!</a:t>
            </a:r>
          </a:p>
          <a:p>
            <a:r>
              <a:rPr lang="en-US" sz="5400" dirty="0">
                <a:solidFill>
                  <a:schemeClr val="tx2"/>
                </a:solidFill>
              </a:rPr>
              <a:t>			</a:t>
            </a:r>
            <a:r>
              <a:rPr lang="en-US" sz="2800" b="1" dirty="0">
                <a:solidFill>
                  <a:schemeClr val="tx2"/>
                </a:solidFill>
              </a:rPr>
              <a:t>Francesco Pizzato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&lt;francesco.pizzato@polito.it&gt;</a:t>
            </a: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05FDAAB-0F7B-C181-D553-80379DE625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9824" y="6362245"/>
            <a:ext cx="10126652" cy="433283"/>
          </a:xfrm>
        </p:spPr>
        <p:txBody>
          <a:bodyPr/>
          <a:lstStyle/>
          <a:p>
            <a:r>
              <a:rPr lang="en-US" sz="2000" dirty="0"/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1287347471"/>
      </p:ext>
    </p:extLst>
  </p:cSld>
  <p:clrMapOvr>
    <a:masterClrMapping/>
  </p:clrMapOvr>
</p:sld>
</file>

<file path=ppt/theme/theme1.xml><?xml version="1.0" encoding="utf-8"?>
<a:theme xmlns:a="http://schemas.openxmlformats.org/drawingml/2006/main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73DB14A085E7041B63C7B8AD307270D" ma:contentTypeVersion="13" ma:contentTypeDescription="Creare un nuovo documento." ma:contentTypeScope="" ma:versionID="e33a041e3355aeb68f456a65d7585748">
  <xsd:schema xmlns:xsd="http://www.w3.org/2001/XMLSchema" xmlns:xs="http://www.w3.org/2001/XMLSchema" xmlns:p="http://schemas.microsoft.com/office/2006/metadata/properties" xmlns:ns2="1ba81e97-3df0-4359-b196-e83559a21ea2" xmlns:ns3="dd434550-8bf0-4708-a74b-e392f8ed5109" targetNamespace="http://schemas.microsoft.com/office/2006/metadata/properties" ma:root="true" ma:fieldsID="c4653c78e5b17ff3fd82fe73f9388e30" ns2:_="" ns3:_="">
    <xsd:import namespace="1ba81e97-3df0-4359-b196-e83559a21ea2"/>
    <xsd:import namespace="dd434550-8bf0-4708-a74b-e392f8ed51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a81e97-3df0-4359-b196-e83559a21e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01d839f4-5e4e-4afa-85c1-b6ecef325b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34550-8bf0-4708-a74b-e392f8ed510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a81e97-3df0-4359-b196-e83559a21ea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55AB7F7-E581-4598-A359-7F528738A32A}"/>
</file>

<file path=customXml/itemProps2.xml><?xml version="1.0" encoding="utf-8"?>
<ds:datastoreItem xmlns:ds="http://schemas.openxmlformats.org/officeDocument/2006/customXml" ds:itemID="{0F3A75B1-CBF9-4228-B516-F748837CCBE9}"/>
</file>

<file path=customXml/itemProps3.xml><?xml version="1.0" encoding="utf-8"?>
<ds:datastoreItem xmlns:ds="http://schemas.openxmlformats.org/officeDocument/2006/customXml" ds:itemID="{CB2122D3-4DEF-4895-AA5A-F98D4731B7B5}"/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779</Words>
  <Application>Microsoft Office PowerPoint</Application>
  <PresentationFormat>Widescreen</PresentationFormat>
  <Paragraphs>78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Gothic</vt:lpstr>
      <vt:lpstr>Wingdings</vt:lpstr>
      <vt:lpstr>PoliTO Layout Generico TITOLO BLU</vt:lpstr>
      <vt:lpstr>PowerPoint Presentation</vt:lpstr>
      <vt:lpstr>PowerPoint Presentation</vt:lpstr>
      <vt:lpstr>Cloud Computing Security</vt:lpstr>
      <vt:lpstr>Ph.D. research goal</vt:lpstr>
      <vt:lpstr>Current research directions</vt:lpstr>
      <vt:lpstr>Cloud Security Automation – state of the art</vt:lpstr>
      <vt:lpstr>An intent-based solution for network isolation in Kubernetes</vt:lpstr>
      <vt:lpstr>Reactive security mechanisms</vt:lpstr>
      <vt:lpstr>Automated and optimal firewall reconfiguration</vt:lpstr>
      <vt:lpstr>Reactive security framework</vt:lpstr>
      <vt:lpstr>Future research directions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Francesco  Pizzato</dc:creator>
  <cp:lastModifiedBy>Francesco  Pizzato</cp:lastModifiedBy>
  <cp:revision>569</cp:revision>
  <dcterms:created xsi:type="dcterms:W3CDTF">2024-05-03T11:34:01Z</dcterms:created>
  <dcterms:modified xsi:type="dcterms:W3CDTF">2024-05-08T23:39:51Z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0x010100D73DB14A085E7041B63C7B8AD307270D</vt:lpwstr>
  </property>
</Properties>
</file>